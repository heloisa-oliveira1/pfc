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10C6B-1105-5FE4-3253-A1B1EA92B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323" y="1445342"/>
            <a:ext cx="10572000" cy="2139114"/>
          </a:xfrm>
        </p:spPr>
        <p:txBody>
          <a:bodyPr/>
          <a:lstStyle/>
          <a:p>
            <a:r>
              <a:rPr lang="pt-BR" sz="3600" dirty="0"/>
              <a:t>Inteligência Artificial Generativa e o Futuro das Funções na Engenharia de Software</a:t>
            </a:r>
            <a:br>
              <a:rPr lang="pt-BR" sz="3600" dirty="0"/>
            </a:br>
            <a:r>
              <a:rPr lang="pt-BR" sz="2000" dirty="0"/>
              <a:t>Uma Revisão Sistemática da Literatura sob a perspectiva da destruição criativa</a:t>
            </a:r>
            <a:br>
              <a:rPr lang="pt-BR" sz="2000" dirty="0"/>
            </a:br>
            <a:endParaRPr lang="pt-BR" sz="2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292C09-F5E1-8EB0-B148-89909D7BCE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Nome: Heloisa Alice Silva de Oliveira 202322975</a:t>
            </a:r>
          </a:p>
        </p:txBody>
      </p:sp>
    </p:spTree>
    <p:extLst>
      <p:ext uri="{BB962C8B-B14F-4D97-AF65-F5344CB8AC3E}">
        <p14:creationId xmlns:p14="http://schemas.microsoft.com/office/powerpoint/2010/main" val="227590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834A4-D242-126A-719E-6D446D48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Problema de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59559B-80A9-4F26-40E6-0B0C7F501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/>
              <a:t>Como a Inteligência Artificial Generativa está transformando as funções e atividades dos profissionais de Engenharia de Software, e quais novas funções e competências profissionais estão surgindo nesse processo?</a:t>
            </a:r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760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B0ABB1BD-25E2-8E7D-65E9-07A22B8F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A58309E2-42D6-39FD-14FE-892580E65E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3300" b="1" dirty="0"/>
              <a:t>Objetivo geral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sz="2900" dirty="0"/>
              <a:t>Analisar os impactos da IA Generativa sobre as funções e atividades dos profissionais de Engenharia de Software, identificando automação, transformação e surgimento de novas funções ou competências.</a:t>
            </a:r>
          </a:p>
          <a:p>
            <a:endParaRPr lang="pt-BR" dirty="0"/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4BE660C8-2BF7-64D1-218E-0FC5002C0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17" y="2222484"/>
            <a:ext cx="5194583" cy="36387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3300" b="1" dirty="0"/>
              <a:t>Objetivos específicos</a:t>
            </a:r>
          </a:p>
          <a:p>
            <a:pPr marL="0" indent="0">
              <a:buNone/>
            </a:pPr>
            <a:endParaRPr lang="pt-BR" b="1" dirty="0"/>
          </a:p>
          <a:p>
            <a:pPr lvl="0"/>
            <a:r>
              <a:rPr lang="pt-BR" sz="2900" dirty="0"/>
              <a:t>Conceituar IA Generativa e Inteligência Natural; </a:t>
            </a:r>
          </a:p>
          <a:p>
            <a:pPr lvl="0"/>
            <a:r>
              <a:rPr lang="pt-BR" sz="2900" dirty="0"/>
              <a:t>Diferenciar IA e Inteligência Natural; </a:t>
            </a:r>
          </a:p>
          <a:p>
            <a:pPr lvl="0"/>
            <a:r>
              <a:rPr lang="pt-BR" sz="2900" dirty="0"/>
              <a:t>Apresentar a teoria da destruição criativa de Schumpeter; </a:t>
            </a:r>
          </a:p>
          <a:p>
            <a:pPr lvl="0"/>
            <a:r>
              <a:rPr lang="pt-BR" sz="2900" dirty="0"/>
              <a:t>Identificar funções e atividades da Engenharia de Software; </a:t>
            </a:r>
          </a:p>
          <a:p>
            <a:pPr lvl="0"/>
            <a:r>
              <a:rPr lang="pt-BR" sz="2900" dirty="0"/>
              <a:t>Analisar os impactos da IA Generativa nessas atividades; </a:t>
            </a:r>
          </a:p>
          <a:p>
            <a:pPr lvl="0"/>
            <a:r>
              <a:rPr lang="pt-BR" sz="2900" dirty="0"/>
              <a:t>Identificar novas competências e funções profissionais.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654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BC5BB4E-195A-23D4-2D5D-27895FDC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  <a:br>
              <a:rPr lang="pt-BR" dirty="0"/>
            </a:br>
            <a:r>
              <a:rPr lang="pt-BR" sz="2000" dirty="0"/>
              <a:t>Revisão Sistemática da Literatura — RSL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848F6F-6934-00F9-900E-D2F5F99945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Bases:</a:t>
            </a:r>
          </a:p>
          <a:p>
            <a:pPr marL="0" indent="0">
              <a:buNone/>
            </a:pPr>
            <a:endParaRPr lang="pt-BR" dirty="0"/>
          </a:p>
          <a:p>
            <a:pPr lvl="0"/>
            <a:r>
              <a:rPr lang="pt-BR" dirty="0"/>
              <a:t>IEEE </a:t>
            </a:r>
            <a:r>
              <a:rPr lang="pt-BR" dirty="0" err="1"/>
              <a:t>Xplore</a:t>
            </a:r>
            <a:r>
              <a:rPr lang="pt-BR" dirty="0"/>
              <a:t> </a:t>
            </a:r>
          </a:p>
          <a:p>
            <a:pPr lvl="0"/>
            <a:r>
              <a:rPr lang="pt-BR" dirty="0"/>
              <a:t>ACM Digital Library </a:t>
            </a:r>
          </a:p>
          <a:p>
            <a:pPr lvl="0"/>
            <a:r>
              <a:rPr lang="pt-BR" dirty="0" err="1"/>
              <a:t>ScienceDirect</a:t>
            </a:r>
            <a:r>
              <a:rPr lang="pt-BR" dirty="0"/>
              <a:t> </a:t>
            </a:r>
          </a:p>
          <a:p>
            <a:pPr lvl="0"/>
            <a:r>
              <a:rPr lang="pt-BR" dirty="0"/>
              <a:t>Scopus </a:t>
            </a:r>
          </a:p>
          <a:p>
            <a:pPr lvl="0"/>
            <a:r>
              <a:rPr lang="pt-BR" dirty="0" err="1"/>
              <a:t>SpringerLink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83F10FC-1073-7A10-91B1-D8FD22905F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Período:</a:t>
            </a:r>
            <a:endParaRPr lang="pt-BR" dirty="0"/>
          </a:p>
          <a:p>
            <a:r>
              <a:rPr lang="pt-BR" dirty="0"/>
              <a:t>Janeiro de 2020 até a data da busca em 2026</a:t>
            </a:r>
          </a:p>
          <a:p>
            <a:pPr marL="0" indent="0">
              <a:buNone/>
            </a:pPr>
            <a:r>
              <a:rPr lang="pt-BR" b="1" dirty="0"/>
              <a:t>Idiomas:</a:t>
            </a:r>
            <a:endParaRPr lang="pt-BR" dirty="0"/>
          </a:p>
          <a:p>
            <a:r>
              <a:rPr lang="pt-BR" dirty="0"/>
              <a:t>Português e Inglês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4829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B12D384-D287-DBCF-4D24-D4451937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Etapas da RSL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29A0B1-DD53-D700-E16A-BF0385037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Busca nas bases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Remoção de duplicados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Triagem por título e resumo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Leitura do texto completo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Aplicação dos critérios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Estudos incluídos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Extração dos dados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Análise dos resultados</a:t>
            </a:r>
          </a:p>
        </p:txBody>
      </p:sp>
    </p:spTree>
    <p:extLst>
      <p:ext uri="{BB962C8B-B14F-4D97-AF65-F5344CB8AC3E}">
        <p14:creationId xmlns:p14="http://schemas.microsoft.com/office/powerpoint/2010/main" val="209375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EE825-F05C-5232-5CF2-FFC62EE5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742156"/>
            <a:ext cx="10571998" cy="970450"/>
          </a:xfrm>
        </p:spPr>
        <p:txBody>
          <a:bodyPr/>
          <a:lstStyle/>
          <a:p>
            <a:r>
              <a:rPr lang="pt-BR" sz="2000" dirty="0"/>
              <a:t>Produto</a:t>
            </a:r>
            <a:br>
              <a:rPr lang="pt-BR" sz="2000" dirty="0"/>
            </a:br>
            <a:br>
              <a:rPr lang="pt-BR" sz="2000" dirty="0"/>
            </a:br>
            <a:r>
              <a:rPr lang="pt-BR" sz="2000" dirty="0"/>
              <a:t>📄 Artigo científico em formato de Revisão Sistemática da Literatura</a:t>
            </a:r>
            <a:br>
              <a:rPr lang="pt-BR" sz="2000" dirty="0"/>
            </a:br>
            <a:endParaRPr lang="pt-BR" sz="2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E6F4B8-23B2-11AE-4DB8-E2C35CE70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288" y="2389435"/>
            <a:ext cx="10554574" cy="36365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/>
              <a:t>Resultado esperado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Identificar:</a:t>
            </a:r>
          </a:p>
          <a:p>
            <a:pPr marL="0" indent="0">
              <a:buNone/>
            </a:pPr>
            <a:endParaRPr lang="pt-BR" dirty="0"/>
          </a:p>
          <a:p>
            <a:pPr lvl="0"/>
            <a:r>
              <a:rPr lang="pt-BR" dirty="0"/>
              <a:t>funções e atividades mais impactadas; </a:t>
            </a:r>
          </a:p>
          <a:p>
            <a:pPr lvl="0"/>
            <a:r>
              <a:rPr lang="pt-BR" dirty="0"/>
              <a:t>atividades com potencial de automação; </a:t>
            </a:r>
          </a:p>
          <a:p>
            <a:pPr lvl="0"/>
            <a:r>
              <a:rPr lang="pt-BR" dirty="0"/>
              <a:t>atividades que estão sendo transformadas; </a:t>
            </a:r>
          </a:p>
          <a:p>
            <a:pPr lvl="0"/>
            <a:r>
              <a:rPr lang="pt-BR" dirty="0"/>
              <a:t>novas competências profissionais; </a:t>
            </a:r>
          </a:p>
          <a:p>
            <a:pPr lvl="0"/>
            <a:r>
              <a:rPr lang="pt-BR" dirty="0"/>
              <a:t>possíveis novas funções relacionadas à IA Generativa; </a:t>
            </a:r>
          </a:p>
          <a:p>
            <a:pPr lvl="0"/>
            <a:r>
              <a:rPr lang="pt-BR" dirty="0"/>
              <a:t>relação dessas transformações com a </a:t>
            </a:r>
            <a:r>
              <a:rPr lang="pt-BR" b="1" dirty="0"/>
              <a:t>destruição criativa de Schumpeter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0703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vel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{FCF35309-78CF-475F-9BFF-926E965C25AA}TF422d6a94-b412-4b4b-8b36-ccdb9da8dac83d9bcdfd-6701d28ed7d7</Template>
  <TotalTime>18</TotalTime>
  <Words>277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Century Gothic</vt:lpstr>
      <vt:lpstr>Wingdings</vt:lpstr>
      <vt:lpstr>Wingdings 2</vt:lpstr>
      <vt:lpstr>Citável</vt:lpstr>
      <vt:lpstr>Inteligência Artificial Generativa e o Futuro das Funções na Engenharia de Software Uma Revisão Sistemática da Literatura sob a perspectiva da destruição criativa </vt:lpstr>
      <vt:lpstr>Problema de pesquisa</vt:lpstr>
      <vt:lpstr>Objetivos</vt:lpstr>
      <vt:lpstr>Metodologia Revisão Sistemática da Literatura — RSL</vt:lpstr>
      <vt:lpstr>Etapas da RSL</vt:lpstr>
      <vt:lpstr>Produto  📄 Artigo científico em formato de Revisão Sistemática da Literatura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Heloisa Oliveira</dc:creator>
  <cp:lastModifiedBy>Heloisa Oliveira</cp:lastModifiedBy>
  <cp:revision>1</cp:revision>
  <dcterms:created xsi:type="dcterms:W3CDTF">2026-09-22T19:23:59Z</dcterms:created>
  <dcterms:modified xsi:type="dcterms:W3CDTF">2026-09-22T19:42:04Z</dcterms:modified>
</cp:coreProperties>
</file>